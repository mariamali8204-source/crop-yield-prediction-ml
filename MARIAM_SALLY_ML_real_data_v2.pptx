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74" r:id="rId9"/>
    <p:sldId id="260" r:id="rId10"/>
    <p:sldId id="261" r:id="rId11"/>
    <p:sldId id="262" r:id="rId12"/>
    <p:sldId id="263" r:id="rId13"/>
    <p:sldId id="264" r:id="rId14"/>
    <p:sldId id="265" r:id="rId15"/>
    <p:sldId id="270" r:id="rId16"/>
  </p:sldIdLst>
  <p:sldSz cx="18288000" cy="10287000"/>
  <p:notesSz cx="6858000" cy="9144000"/>
  <p:embeddedFontLst>
    <p:embeddedFont>
      <p:font typeface="Aloja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FF Providence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7C49"/>
    <a:srgbClr val="F4FFE7"/>
    <a:srgbClr val="977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22" autoAdjust="0"/>
  </p:normalViewPr>
  <p:slideViewPr>
    <p:cSldViewPr>
      <p:cViewPr varScale="1">
        <p:scale>
          <a:sx n="60" d="100"/>
          <a:sy n="60" d="100"/>
        </p:scale>
        <p:origin x="365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m Ali" userId="a5c91de1ea930e68" providerId="LiveId" clId="{64DAC49F-D48C-4212-8B43-073997E477C0}"/>
    <pc:docChg chg="modSld">
      <pc:chgData name="Mariam Ali" userId="a5c91de1ea930e68" providerId="LiveId" clId="{64DAC49F-D48C-4212-8B43-073997E477C0}" dt="2026-07-06T03:50:29.332" v="10" actId="14100"/>
      <pc:docMkLst>
        <pc:docMk/>
      </pc:docMkLst>
      <pc:sldChg chg="modSp mod">
        <pc:chgData name="Mariam Ali" userId="a5c91de1ea930e68" providerId="LiveId" clId="{64DAC49F-D48C-4212-8B43-073997E477C0}" dt="2026-07-06T03:49:58.064" v="0" actId="14100"/>
        <pc:sldMkLst>
          <pc:docMk/>
          <pc:sldMk cId="0" sldId="261"/>
        </pc:sldMkLst>
        <pc:spChg chg="mod">
          <ac:chgData name="Mariam Ali" userId="a5c91de1ea930e68" providerId="LiveId" clId="{64DAC49F-D48C-4212-8B43-073997E477C0}" dt="2026-07-06T03:49:58.064" v="0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riam Ali" userId="a5c91de1ea930e68" providerId="LiveId" clId="{64DAC49F-D48C-4212-8B43-073997E477C0}" dt="2026-07-06T03:50:22.106" v="9" actId="1076"/>
        <pc:sldMkLst>
          <pc:docMk/>
          <pc:sldMk cId="0" sldId="262"/>
        </pc:sldMkLst>
        <pc:spChg chg="mod">
          <ac:chgData name="Mariam Ali" userId="a5c91de1ea930e68" providerId="LiveId" clId="{64DAC49F-D48C-4212-8B43-073997E477C0}" dt="2026-07-06T03:50:16.681" v="7" actId="14100"/>
          <ac:spMkLst>
            <pc:docMk/>
            <pc:sldMk cId="0" sldId="262"/>
            <ac:spMk id="2" creationId="{00000000-0000-0000-0000-000000000000}"/>
          </ac:spMkLst>
        </pc:spChg>
        <pc:picChg chg="mod">
          <ac:chgData name="Mariam Ali" userId="a5c91de1ea930e68" providerId="LiveId" clId="{64DAC49F-D48C-4212-8B43-073997E477C0}" dt="2026-07-06T03:50:22.106" v="9" actId="1076"/>
          <ac:picMkLst>
            <pc:docMk/>
            <pc:sldMk cId="0" sldId="262"/>
            <ac:picMk id="31" creationId="{00000000-0000-0000-0000-000000000000}"/>
          </ac:picMkLst>
        </pc:picChg>
      </pc:sldChg>
      <pc:sldChg chg="modSp mod">
        <pc:chgData name="Mariam Ali" userId="a5c91de1ea930e68" providerId="LiveId" clId="{64DAC49F-D48C-4212-8B43-073997E477C0}" dt="2026-07-06T03:50:29.332" v="10" actId="14100"/>
        <pc:sldMkLst>
          <pc:docMk/>
          <pc:sldMk cId="0" sldId="263"/>
        </pc:sldMkLst>
        <pc:spChg chg="mod">
          <ac:chgData name="Mariam Ali" userId="a5c91de1ea930e68" providerId="LiveId" clId="{64DAC49F-D48C-4212-8B43-073997E477C0}" dt="2026-07-06T03:50:29.332" v="10" actId="14100"/>
          <ac:spMkLst>
            <pc:docMk/>
            <pc:sldMk cId="0" sldId="26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6B5A3-19A7-4CA1-B58E-527AD3DFE96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61983-3181-448D-95D7-F48266E5E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5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117" y="417536"/>
            <a:ext cx="17645766" cy="8630384"/>
          </a:xfrm>
          <a:custGeom>
            <a:avLst/>
            <a:gdLst/>
            <a:ahLst/>
            <a:cxnLst/>
            <a:rect l="l" t="t" r="r" b="b"/>
            <a:pathLst>
              <a:path w="17645766" h="8630384">
                <a:moveTo>
                  <a:pt x="0" y="0"/>
                </a:moveTo>
                <a:lnTo>
                  <a:pt x="17645766" y="0"/>
                </a:lnTo>
                <a:lnTo>
                  <a:pt x="17645766" y="8630384"/>
                </a:lnTo>
                <a:lnTo>
                  <a:pt x="0" y="863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25026" y="6440095"/>
            <a:ext cx="12734391" cy="8229600"/>
          </a:xfrm>
          <a:custGeom>
            <a:avLst/>
            <a:gdLst/>
            <a:ahLst/>
            <a:cxnLst/>
            <a:rect l="l" t="t" r="r" b="b"/>
            <a:pathLst>
              <a:path w="12734391" h="8229600">
                <a:moveTo>
                  <a:pt x="0" y="0"/>
                </a:moveTo>
                <a:lnTo>
                  <a:pt x="12734391" y="0"/>
                </a:lnTo>
                <a:lnTo>
                  <a:pt x="127343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42795" y="696448"/>
            <a:ext cx="4670223" cy="13439491"/>
          </a:xfrm>
          <a:custGeom>
            <a:avLst/>
            <a:gdLst/>
            <a:ahLst/>
            <a:cxnLst/>
            <a:rect l="l" t="t" r="r" b="b"/>
            <a:pathLst>
              <a:path w="4670223" h="13439491">
                <a:moveTo>
                  <a:pt x="0" y="0"/>
                </a:moveTo>
                <a:lnTo>
                  <a:pt x="4670223" y="0"/>
                </a:lnTo>
                <a:lnTo>
                  <a:pt x="4670223" y="13439490"/>
                </a:lnTo>
                <a:lnTo>
                  <a:pt x="0" y="13439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778100" y="1703148"/>
            <a:ext cx="11254179" cy="9889609"/>
          </a:xfrm>
          <a:custGeom>
            <a:avLst/>
            <a:gdLst/>
            <a:ahLst/>
            <a:cxnLst/>
            <a:rect l="l" t="t" r="r" b="b"/>
            <a:pathLst>
              <a:path w="11254179" h="9889609">
                <a:moveTo>
                  <a:pt x="0" y="0"/>
                </a:moveTo>
                <a:lnTo>
                  <a:pt x="11254179" y="0"/>
                </a:lnTo>
                <a:lnTo>
                  <a:pt x="11254179" y="9889609"/>
                </a:lnTo>
                <a:lnTo>
                  <a:pt x="0" y="9889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86400" y="616502"/>
            <a:ext cx="6946547" cy="590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15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Crop Yield Forecasting with Machine Learning</a:t>
            </a:r>
          </a:p>
        </p:txBody>
      </p:sp>
      <p:sp>
        <p:nvSpPr>
          <p:cNvPr id="7" name="Freeform 7"/>
          <p:cNvSpPr/>
          <p:nvPr/>
        </p:nvSpPr>
        <p:spPr>
          <a:xfrm>
            <a:off x="5670726" y="6297218"/>
            <a:ext cx="7252335" cy="8229600"/>
          </a:xfrm>
          <a:custGeom>
            <a:avLst/>
            <a:gdLst/>
            <a:ahLst/>
            <a:cxnLst/>
            <a:rect l="l" t="t" r="r" b="b"/>
            <a:pathLst>
              <a:path w="7252335" h="8229600">
                <a:moveTo>
                  <a:pt x="0" y="0"/>
                </a:moveTo>
                <a:lnTo>
                  <a:pt x="7252335" y="0"/>
                </a:lnTo>
                <a:lnTo>
                  <a:pt x="72523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D6FBC-5E9C-172C-05DE-6C337B140302}"/>
              </a:ext>
            </a:extLst>
          </p:cNvPr>
          <p:cNvSpPr txBox="1"/>
          <p:nvPr/>
        </p:nvSpPr>
        <p:spPr>
          <a:xfrm>
            <a:off x="30480" y="96283"/>
            <a:ext cx="4327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777C49"/>
                </a:solidFill>
                <a:latin typeface="FF Providence Sans" panose="020B0604020202020204" charset="0"/>
              </a:rPr>
              <a:t>Sally </a:t>
            </a:r>
            <a:r>
              <a:rPr lang="en-US" sz="3600" dirty="0" err="1">
                <a:solidFill>
                  <a:srgbClr val="777C49"/>
                </a:solidFill>
                <a:latin typeface="FF Providence Sans" panose="020B0604020202020204" charset="0"/>
              </a:rPr>
              <a:t>Homsi</a:t>
            </a:r>
            <a:r>
              <a:rPr lang="en-US" sz="3600" dirty="0">
                <a:solidFill>
                  <a:srgbClr val="777C49"/>
                </a:solidFill>
                <a:latin typeface="FF Providence Sans" panose="020B0604020202020204" charset="0"/>
              </a:rPr>
              <a:t> </a:t>
            </a:r>
          </a:p>
          <a:p>
            <a:r>
              <a:rPr lang="en-US" sz="3600" dirty="0">
                <a:solidFill>
                  <a:srgbClr val="777C49"/>
                </a:solidFill>
                <a:latin typeface="FF Providence Sans" panose="020B0604020202020204" charset="0"/>
              </a:rPr>
              <a:t>Mariam Ali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32513" y="1257301"/>
            <a:ext cx="8419028" cy="7500274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1713" y="3680795"/>
            <a:ext cx="7015087" cy="410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3365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Farmers and agencies need reliable, early estimates of harvest volume to plan logistics, pricing, and food security — but yield depends on dozens of interacting climate and soil factors that are hard to reason about by hand.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34672" y="1995912"/>
            <a:ext cx="5391227" cy="168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Why Predict Crop Yield?</a:t>
            </a:r>
          </a:p>
        </p:txBody>
      </p:sp>
      <p:sp>
        <p:nvSpPr>
          <p:cNvPr id="5" name="Freeform 5"/>
          <p:cNvSpPr/>
          <p:nvPr/>
        </p:nvSpPr>
        <p:spPr>
          <a:xfrm>
            <a:off x="-2084356" y="3542212"/>
            <a:ext cx="8419028" cy="8229600"/>
          </a:xfrm>
          <a:custGeom>
            <a:avLst/>
            <a:gdLst/>
            <a:ahLst/>
            <a:cxnLst/>
            <a:rect l="l" t="t" r="r" b="b"/>
            <a:pathLst>
              <a:path w="8419028" h="8229600">
                <a:moveTo>
                  <a:pt x="0" y="0"/>
                </a:moveTo>
                <a:lnTo>
                  <a:pt x="8419029" y="0"/>
                </a:lnTo>
                <a:lnTo>
                  <a:pt x="84190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2806288" y="1028700"/>
            <a:ext cx="6784656" cy="10397941"/>
          </a:xfrm>
          <a:custGeom>
            <a:avLst/>
            <a:gdLst/>
            <a:ahLst/>
            <a:cxnLst/>
            <a:rect l="l" t="t" r="r" b="b"/>
            <a:pathLst>
              <a:path w="6784656" h="10397941">
                <a:moveTo>
                  <a:pt x="6784656" y="0"/>
                </a:moveTo>
                <a:lnTo>
                  <a:pt x="0" y="0"/>
                </a:lnTo>
                <a:lnTo>
                  <a:pt x="0" y="10397941"/>
                </a:lnTo>
                <a:lnTo>
                  <a:pt x="6784656" y="10397941"/>
                </a:lnTo>
                <a:lnTo>
                  <a:pt x="678465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19348" y="1181100"/>
            <a:ext cx="8015082" cy="7228147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55422" y="-703686"/>
            <a:ext cx="3816477" cy="8229600"/>
          </a:xfrm>
          <a:custGeom>
            <a:avLst/>
            <a:gdLst/>
            <a:ahLst/>
            <a:cxnLst/>
            <a:rect l="l" t="t" r="r" b="b"/>
            <a:pathLst>
              <a:path w="3816477" h="8229600">
                <a:moveTo>
                  <a:pt x="0" y="0"/>
                </a:moveTo>
                <a:lnTo>
                  <a:pt x="3816477" y="0"/>
                </a:lnTo>
                <a:lnTo>
                  <a:pt x="38164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77814" y="1296595"/>
            <a:ext cx="4258818" cy="8229600"/>
          </a:xfrm>
          <a:custGeom>
            <a:avLst/>
            <a:gdLst/>
            <a:ahLst/>
            <a:cxnLst/>
            <a:rect l="l" t="t" r="r" b="b"/>
            <a:pathLst>
              <a:path w="4258818" h="8229600">
                <a:moveTo>
                  <a:pt x="0" y="0"/>
                </a:moveTo>
                <a:lnTo>
                  <a:pt x="4258818" y="0"/>
                </a:lnTo>
                <a:lnTo>
                  <a:pt x="42588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6438203"/>
            <a:ext cx="8514516" cy="5502506"/>
          </a:xfrm>
          <a:custGeom>
            <a:avLst/>
            <a:gdLst/>
            <a:ahLst/>
            <a:cxnLst/>
            <a:rect l="l" t="t" r="r" b="b"/>
            <a:pathLst>
              <a:path w="8514516" h="5502506">
                <a:moveTo>
                  <a:pt x="0" y="0"/>
                </a:moveTo>
                <a:lnTo>
                  <a:pt x="8514516" y="0"/>
                </a:lnTo>
                <a:lnTo>
                  <a:pt x="8514516" y="5502506"/>
                </a:lnTo>
                <a:lnTo>
                  <a:pt x="0" y="5502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43800" y="3486646"/>
            <a:ext cx="6325697" cy="4104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3365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Our pipeline moves through four stages: merging real climate, pesticide, and yield records from FAO/World Bank, cleaning genuine missing values and encoding country/crop identity, training two regression models, then validating predictions on unseen future years.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70469" y="1801763"/>
            <a:ext cx="6712840" cy="168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From Raw Data to Prediction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615" y="-1496467"/>
            <a:ext cx="9904333" cy="8229600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923899" y="3493331"/>
            <a:ext cx="8419028" cy="8229600"/>
          </a:xfrm>
          <a:custGeom>
            <a:avLst/>
            <a:gdLst/>
            <a:ahLst/>
            <a:cxnLst/>
            <a:rect l="l" t="t" r="r" b="b"/>
            <a:pathLst>
              <a:path w="8419028" h="8229600">
                <a:moveTo>
                  <a:pt x="0" y="0"/>
                </a:moveTo>
                <a:lnTo>
                  <a:pt x="8419028" y="0"/>
                </a:lnTo>
                <a:lnTo>
                  <a:pt x="84190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3889147" y="6370554"/>
            <a:ext cx="9246524" cy="9038477"/>
          </a:xfrm>
          <a:custGeom>
            <a:avLst/>
            <a:gdLst/>
            <a:ahLst/>
            <a:cxnLst/>
            <a:rect l="l" t="t" r="r" b="b"/>
            <a:pathLst>
              <a:path w="9246524" h="9038477">
                <a:moveTo>
                  <a:pt x="9246524" y="0"/>
                </a:moveTo>
                <a:lnTo>
                  <a:pt x="0" y="0"/>
                </a:lnTo>
                <a:lnTo>
                  <a:pt x="0" y="9038477"/>
                </a:lnTo>
                <a:lnTo>
                  <a:pt x="9246524" y="9038477"/>
                </a:lnTo>
                <a:lnTo>
                  <a:pt x="924652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50064" y="243187"/>
            <a:ext cx="10497860" cy="10043813"/>
          </a:xfrm>
          <a:custGeom>
            <a:avLst/>
            <a:gdLst/>
            <a:ahLst/>
            <a:cxnLst/>
            <a:rect l="l" t="t" r="r" b="b"/>
            <a:pathLst>
              <a:path w="10497860" h="10043813">
                <a:moveTo>
                  <a:pt x="0" y="0"/>
                </a:moveTo>
                <a:lnTo>
                  <a:pt x="10497860" y="0"/>
                </a:lnTo>
                <a:lnTo>
                  <a:pt x="10497860" y="10043813"/>
                </a:lnTo>
                <a:lnTo>
                  <a:pt x="0" y="10043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13" r="-813" b="-383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22390" y="1558211"/>
            <a:ext cx="6188810" cy="51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3365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1182" y="243187"/>
            <a:ext cx="5391227" cy="168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B2072-740F-3950-0851-7FDB4E80C571}"/>
              </a:ext>
            </a:extLst>
          </p:cNvPr>
          <p:cNvSpPr txBox="1"/>
          <p:nvPr/>
        </p:nvSpPr>
        <p:spPr>
          <a:xfrm>
            <a:off x="2742268" y="1600505"/>
            <a:ext cx="68028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777C49"/>
                </a:solidFill>
                <a:latin typeface="FF Providence Sans" panose="020B0604020202020204" charset="0"/>
              </a:rPr>
              <a:t>50,051 merged country-crop-year records (1990-2013) across 101 countries and 10 crops, described by 4 features: rainfall, pesticides, temperature, and year — before cleaning real missing values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600" y="-699289"/>
            <a:ext cx="14735225" cy="12209804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425294" y="4988105"/>
            <a:ext cx="5730558" cy="6367287"/>
          </a:xfrm>
          <a:custGeom>
            <a:avLst/>
            <a:gdLst/>
            <a:ahLst/>
            <a:cxnLst/>
            <a:rect l="l" t="t" r="r" b="b"/>
            <a:pathLst>
              <a:path w="5730558" h="6367287">
                <a:moveTo>
                  <a:pt x="0" y="0"/>
                </a:moveTo>
                <a:lnTo>
                  <a:pt x="5730558" y="0"/>
                </a:lnTo>
                <a:lnTo>
                  <a:pt x="5730558" y="6367287"/>
                </a:lnTo>
                <a:lnTo>
                  <a:pt x="0" y="6367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48400" y="2214083"/>
            <a:ext cx="6188810" cy="95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8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Most country-crop records yield under 10 </a:t>
            </a:r>
            <a:r>
              <a:rPr lang="en-US" sz="2800" dirty="0" err="1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tonnes</a:t>
            </a:r>
            <a:r>
              <a:rPr lang="en-US" sz="28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 per hectare (median 4.3 t/ha), with a long right tail led by high-yield crops like potatoes and cassava.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660" y="298635"/>
            <a:ext cx="754268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Exploring the Yield Distribution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3716000" y="1536326"/>
            <a:ext cx="8348767" cy="9276408"/>
          </a:xfrm>
          <a:custGeom>
            <a:avLst/>
            <a:gdLst/>
            <a:ahLst/>
            <a:cxnLst/>
            <a:rect l="l" t="t" r="r" b="b"/>
            <a:pathLst>
              <a:path w="8348767" h="9276408">
                <a:moveTo>
                  <a:pt x="0" y="0"/>
                </a:moveTo>
                <a:lnTo>
                  <a:pt x="8348767" y="0"/>
                </a:lnTo>
                <a:lnTo>
                  <a:pt x="8348767" y="9276408"/>
                </a:lnTo>
                <a:lnTo>
                  <a:pt x="0" y="92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A598F21-9715-652B-9350-0402998C2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476" y="3627838"/>
            <a:ext cx="10448658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928514" y="5143500"/>
            <a:ext cx="5730558" cy="6367287"/>
          </a:xfrm>
          <a:custGeom>
            <a:avLst/>
            <a:gdLst/>
            <a:ahLst/>
            <a:cxnLst/>
            <a:rect l="l" t="t" r="r" b="b"/>
            <a:pathLst>
              <a:path w="5730558" h="6367287">
                <a:moveTo>
                  <a:pt x="0" y="0"/>
                </a:moveTo>
                <a:lnTo>
                  <a:pt x="5730558" y="0"/>
                </a:lnTo>
                <a:lnTo>
                  <a:pt x="5730558" y="6367287"/>
                </a:lnTo>
                <a:lnTo>
                  <a:pt x="0" y="6367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914934" y="8645460"/>
            <a:ext cx="6188810" cy="7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None of the 4 numeric features correlate strongly with yield alone (all under 0.13) — temperature has the strongest (negative) link, confirming yield here is driven more by country and crop than by climate.</a:t>
            </a:r>
          </a:p>
        </p:txBody>
      </p:sp>
      <p:pic>
        <p:nvPicPr>
          <p:cNvPr id="31" name="Correlation Heatmap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7765"/>
            <a:ext cx="11791539" cy="916915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246556" y="482552"/>
            <a:ext cx="8485632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Feature Correlations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13929360" y="1170516"/>
            <a:ext cx="8348767" cy="9276408"/>
          </a:xfrm>
          <a:custGeom>
            <a:avLst/>
            <a:gdLst/>
            <a:ahLst/>
            <a:cxnLst/>
            <a:rect l="l" t="t" r="r" b="b"/>
            <a:pathLst>
              <a:path w="8348767" h="9276408">
                <a:moveTo>
                  <a:pt x="0" y="0"/>
                </a:moveTo>
                <a:lnTo>
                  <a:pt x="8348767" y="0"/>
                </a:lnTo>
                <a:lnTo>
                  <a:pt x="8348767" y="9276408"/>
                </a:lnTo>
                <a:lnTo>
                  <a:pt x="0" y="927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2D82B098-9C52-D8B8-66A4-69804993632F}"/>
              </a:ext>
            </a:extLst>
          </p:cNvPr>
          <p:cNvSpPr/>
          <p:nvPr/>
        </p:nvSpPr>
        <p:spPr>
          <a:xfrm>
            <a:off x="3436686" y="2379825"/>
            <a:ext cx="10134599" cy="5726813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3507634" y="5600700"/>
            <a:ext cx="5730558" cy="6367287"/>
          </a:xfrm>
          <a:custGeom>
            <a:avLst/>
            <a:gdLst/>
            <a:ahLst/>
            <a:cxnLst/>
            <a:rect l="l" t="t" r="r" b="b"/>
            <a:pathLst>
              <a:path w="5730558" h="6367287">
                <a:moveTo>
                  <a:pt x="0" y="0"/>
                </a:moveTo>
                <a:lnTo>
                  <a:pt x="5730558" y="0"/>
                </a:lnTo>
                <a:lnTo>
                  <a:pt x="5730558" y="6367287"/>
                </a:lnTo>
                <a:lnTo>
                  <a:pt x="0" y="6367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10000" y="1535253"/>
            <a:ext cx="8274884" cy="938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Potatoes and cassava show by far the highest median yields, while grains like sorghum, soybeans, and maize cluster much lower — crop type alone spans a huge range.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00400" y="219293"/>
            <a:ext cx="888448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Yield by Crop Type</a:t>
            </a:r>
          </a:p>
        </p:txBody>
      </p:sp>
      <p:sp>
        <p:nvSpPr>
          <p:cNvPr id="7" name="Freeform 7"/>
          <p:cNvSpPr/>
          <p:nvPr/>
        </p:nvSpPr>
        <p:spPr>
          <a:xfrm>
            <a:off x="14094683" y="2324100"/>
            <a:ext cx="8348767" cy="9276408"/>
          </a:xfrm>
          <a:custGeom>
            <a:avLst/>
            <a:gdLst/>
            <a:ahLst/>
            <a:cxnLst/>
            <a:rect l="l" t="t" r="r" b="b"/>
            <a:pathLst>
              <a:path w="8348767" h="9276408">
                <a:moveTo>
                  <a:pt x="0" y="0"/>
                </a:moveTo>
                <a:lnTo>
                  <a:pt x="8348767" y="0"/>
                </a:lnTo>
                <a:lnTo>
                  <a:pt x="8348767" y="9276408"/>
                </a:lnTo>
                <a:lnTo>
                  <a:pt x="0" y="927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4ABD3408-A3CE-EA6A-4EAE-8B4FB3EA5982}"/>
              </a:ext>
            </a:extLst>
          </p:cNvPr>
          <p:cNvSpPr/>
          <p:nvPr/>
        </p:nvSpPr>
        <p:spPr>
          <a:xfrm>
            <a:off x="3436686" y="2379825"/>
            <a:ext cx="10134599" cy="5726813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/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FF0D95-D023-DF92-766B-857BA6DC7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81300"/>
            <a:ext cx="13103552" cy="782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209800" y="1354476"/>
            <a:ext cx="13245676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32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Rainfall and temperature show only weak, noisy relationships with yield on their own; yield edges up slightly over time (Year), hinting at gradual gains in farming technology.</a:t>
            </a:r>
          </a:p>
        </p:txBody>
      </p:sp>
      <p:pic>
        <p:nvPicPr>
          <p:cNvPr id="31" name="Climate Drivers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735469"/>
            <a:ext cx="17161750" cy="670671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429000" y="190500"/>
            <a:ext cx="949408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Climate Drivers of Yield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B69FC8CD-3F58-D329-535E-352B8CF25152}"/>
              </a:ext>
            </a:extLst>
          </p:cNvPr>
          <p:cNvSpPr/>
          <p:nvPr/>
        </p:nvSpPr>
        <p:spPr>
          <a:xfrm>
            <a:off x="3436686" y="2379825"/>
            <a:ext cx="10134599" cy="5726813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noFill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5846" y="1935671"/>
            <a:ext cx="4091691" cy="9042411"/>
          </a:xfrm>
          <a:custGeom>
            <a:avLst/>
            <a:gdLst/>
            <a:ahLst/>
            <a:cxnLst/>
            <a:rect l="l" t="t" r="r" b="b"/>
            <a:pathLst>
              <a:path w="4091691" h="9042411">
                <a:moveTo>
                  <a:pt x="0" y="0"/>
                </a:moveTo>
                <a:lnTo>
                  <a:pt x="4091691" y="0"/>
                </a:lnTo>
                <a:lnTo>
                  <a:pt x="4091691" y="9042410"/>
                </a:lnTo>
                <a:lnTo>
                  <a:pt x="0" y="9042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49600" y="3086100"/>
            <a:ext cx="4423410" cy="8229600"/>
          </a:xfrm>
          <a:custGeom>
            <a:avLst/>
            <a:gdLst/>
            <a:ahLst/>
            <a:cxnLst/>
            <a:rect l="l" t="t" r="r" b="b"/>
            <a:pathLst>
              <a:path w="4423410" h="8229600">
                <a:moveTo>
                  <a:pt x="0" y="0"/>
                </a:moveTo>
                <a:lnTo>
                  <a:pt x="4423410" y="0"/>
                </a:lnTo>
                <a:lnTo>
                  <a:pt x="442341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7724" y="239388"/>
            <a:ext cx="15239998" cy="9042411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029200" y="8488335"/>
            <a:ext cx="7318845" cy="15465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Merging 4 real FAO / World Bank sources left genuine gaps — 14.6% missing rainfall, 20.5% missing temperature, and 25.7% missing pesticide data — filled in using median imputation, just like our synthetic pipeline.</a:t>
            </a:r>
          </a:p>
        </p:txBody>
      </p:sp>
      <p:pic>
        <p:nvPicPr>
          <p:cNvPr id="30" name="Missing Data 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469" y="1935671"/>
            <a:ext cx="12723062" cy="636153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252109" y="424751"/>
            <a:ext cx="5391227" cy="247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Handling Missing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7250" y="1529427"/>
            <a:ext cx="6250718" cy="8757573"/>
          </a:xfrm>
          <a:custGeom>
            <a:avLst/>
            <a:gdLst/>
            <a:ahLst/>
            <a:cxnLst/>
            <a:rect l="l" t="t" r="r" b="b"/>
            <a:pathLst>
              <a:path w="6250718" h="8757573">
                <a:moveTo>
                  <a:pt x="0" y="0"/>
                </a:moveTo>
                <a:lnTo>
                  <a:pt x="6250718" y="0"/>
                </a:lnTo>
                <a:lnTo>
                  <a:pt x="6250718" y="8757573"/>
                </a:lnTo>
                <a:lnTo>
                  <a:pt x="0" y="8757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15000" y="876300"/>
            <a:ext cx="9601200" cy="8501657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29164">
            <a:off x="15227314" y="836737"/>
            <a:ext cx="5752736" cy="7340014"/>
          </a:xfrm>
          <a:custGeom>
            <a:avLst/>
            <a:gdLst/>
            <a:ahLst/>
            <a:cxnLst/>
            <a:rect l="l" t="t" r="r" b="b"/>
            <a:pathLst>
              <a:path w="5752736" h="7340014">
                <a:moveTo>
                  <a:pt x="0" y="0"/>
                </a:moveTo>
                <a:lnTo>
                  <a:pt x="5752737" y="0"/>
                </a:lnTo>
                <a:lnTo>
                  <a:pt x="5752737" y="7340014"/>
                </a:lnTo>
                <a:lnTo>
                  <a:pt x="0" y="734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553200" y="3237254"/>
            <a:ext cx="8396664" cy="5139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36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After imputing the real missing values, data was split chronologically (train: 1990–2008, validation: 2009–2011, test: 2012–2013) to avoid leaking future years into training. Countries and crops were one-hot encoded since </a:t>
            </a:r>
            <a:r>
              <a:rPr lang="en-US" sz="3600" dirty="0">
                <a:solidFill>
                  <a:srgbClr val="777C49"/>
                </a:solidFill>
                <a:latin typeface="FF Providence Sans" panose="020B0604020202020204" charset="0"/>
              </a:rPr>
              <a:t>XGBoost and Random Forest both need numeric inputs, and label encoding would falsely imply an order between countries.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78280" y="1529427"/>
            <a:ext cx="6712840" cy="168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Two Models, One Target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52600" y="-1496467"/>
            <a:ext cx="15163799" cy="11415964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2026077" y="5600700"/>
            <a:ext cx="5730558" cy="6367287"/>
          </a:xfrm>
          <a:custGeom>
            <a:avLst/>
            <a:gdLst/>
            <a:ahLst/>
            <a:cxnLst/>
            <a:rect l="l" t="t" r="r" b="b"/>
            <a:pathLst>
              <a:path w="5730558" h="6367287">
                <a:moveTo>
                  <a:pt x="0" y="0"/>
                </a:moveTo>
                <a:lnTo>
                  <a:pt x="5730558" y="0"/>
                </a:lnTo>
                <a:lnTo>
                  <a:pt x="5730558" y="6367287"/>
                </a:lnTo>
                <a:lnTo>
                  <a:pt x="0" y="6367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72310" y="2292477"/>
            <a:ext cx="6651924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200" dirty="0" err="1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XGBoost</a:t>
            </a:r>
            <a:r>
              <a:rPr lang="en-US" sz="22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 reached a lower RMSE (2.63 vs 3.18 t/ha) and higher R² (0.91 vs 0.86) than Random Forest on unseen 2012–2013 data.</a:t>
            </a:r>
          </a:p>
        </p:txBody>
      </p:sp>
      <p:pic>
        <p:nvPicPr>
          <p:cNvPr id="31" name="RMSE Comparison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194" y="3287302"/>
            <a:ext cx="8831857" cy="630846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148305" y="367503"/>
            <a:ext cx="5391227" cy="168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Model Accuracy Compared</a:t>
            </a:r>
          </a:p>
        </p:txBody>
      </p:sp>
      <p:sp>
        <p:nvSpPr>
          <p:cNvPr id="6" name="Freeform 6"/>
          <p:cNvSpPr/>
          <p:nvPr/>
        </p:nvSpPr>
        <p:spPr>
          <a:xfrm>
            <a:off x="9266668" y="5978253"/>
            <a:ext cx="5518818" cy="6132020"/>
          </a:xfrm>
          <a:custGeom>
            <a:avLst/>
            <a:gdLst/>
            <a:ahLst/>
            <a:cxnLst/>
            <a:rect l="l" t="t" r="r" b="b"/>
            <a:pathLst>
              <a:path w="5518818" h="6132020">
                <a:moveTo>
                  <a:pt x="0" y="0"/>
                </a:moveTo>
                <a:lnTo>
                  <a:pt x="5518818" y="0"/>
                </a:lnTo>
                <a:lnTo>
                  <a:pt x="5518818" y="6132020"/>
                </a:lnTo>
                <a:lnTo>
                  <a:pt x="0" y="6132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411200" y="1235170"/>
            <a:ext cx="8348767" cy="9276408"/>
          </a:xfrm>
          <a:custGeom>
            <a:avLst/>
            <a:gdLst/>
            <a:ahLst/>
            <a:cxnLst/>
            <a:rect l="l" t="t" r="r" b="b"/>
            <a:pathLst>
              <a:path w="8348767" h="9276408">
                <a:moveTo>
                  <a:pt x="0" y="0"/>
                </a:moveTo>
                <a:lnTo>
                  <a:pt x="8348767" y="0"/>
                </a:lnTo>
                <a:lnTo>
                  <a:pt x="8348767" y="9276408"/>
                </a:lnTo>
                <a:lnTo>
                  <a:pt x="0" y="9276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43200" y="4991100"/>
            <a:ext cx="6491627" cy="5704517"/>
          </a:xfrm>
          <a:custGeom>
            <a:avLst/>
            <a:gdLst/>
            <a:ahLst/>
            <a:cxnLst/>
            <a:rect l="l" t="t" r="r" b="b"/>
            <a:pathLst>
              <a:path w="6491627" h="5704517">
                <a:moveTo>
                  <a:pt x="0" y="0"/>
                </a:moveTo>
                <a:lnTo>
                  <a:pt x="6491627" y="0"/>
                </a:lnTo>
                <a:lnTo>
                  <a:pt x="6491627" y="5704517"/>
                </a:lnTo>
                <a:lnTo>
                  <a:pt x="0" y="5704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3895451" y="2282341"/>
            <a:ext cx="4392549" cy="8229600"/>
          </a:xfrm>
          <a:custGeom>
            <a:avLst/>
            <a:gdLst/>
            <a:ahLst/>
            <a:cxnLst/>
            <a:rect l="l" t="t" r="r" b="b"/>
            <a:pathLst>
              <a:path w="4392549" h="8229600">
                <a:moveTo>
                  <a:pt x="0" y="0"/>
                </a:moveTo>
                <a:lnTo>
                  <a:pt x="4392549" y="0"/>
                </a:lnTo>
                <a:lnTo>
                  <a:pt x="439254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67000" y="-419100"/>
            <a:ext cx="11228451" cy="10931041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/>
            </a:stretch>
          </a:blipFill>
        </p:spPr>
      </p:sp>
      <p:pic>
        <p:nvPicPr>
          <p:cNvPr id="32" name="Actual vs Predicted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626" y="1603200"/>
            <a:ext cx="9037934" cy="7746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210332" y="9350000"/>
            <a:ext cx="5867336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Points near the dashed line are accurate forecasts from the </a:t>
            </a:r>
            <a:r>
              <a:rPr lang="en-US" sz="2000" dirty="0" err="1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XGBoost</a:t>
            </a:r>
            <a:r>
              <a:rPr lang="en-US" sz="20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 model.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7084" y="98672"/>
            <a:ext cx="5629282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Predictions vs Reality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35349" y="2628900"/>
            <a:ext cx="6028182" cy="8229600"/>
          </a:xfrm>
          <a:custGeom>
            <a:avLst/>
            <a:gdLst/>
            <a:ahLst/>
            <a:cxnLst/>
            <a:rect l="l" t="t" r="r" b="b"/>
            <a:pathLst>
              <a:path w="6028182" h="8229600">
                <a:moveTo>
                  <a:pt x="0" y="0"/>
                </a:moveTo>
                <a:lnTo>
                  <a:pt x="6028182" y="0"/>
                </a:lnTo>
                <a:lnTo>
                  <a:pt x="60281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3854052" y="-114300"/>
            <a:ext cx="11231017" cy="10744200"/>
          </a:xfrm>
          <a:custGeom>
            <a:avLst/>
            <a:gdLst/>
            <a:ahLst/>
            <a:cxnLst/>
            <a:rect l="l" t="t" r="r" b="b"/>
            <a:pathLst>
              <a:path w="8015082" h="7228147">
                <a:moveTo>
                  <a:pt x="0" y="0"/>
                </a:moveTo>
                <a:lnTo>
                  <a:pt x="8015082" y="0"/>
                </a:lnTo>
                <a:lnTo>
                  <a:pt x="8015082" y="7228146"/>
                </a:lnTo>
                <a:lnTo>
                  <a:pt x="0" y="7228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268952">
            <a:off x="15594126" y="2532949"/>
            <a:ext cx="4372107" cy="6580800"/>
          </a:xfrm>
          <a:custGeom>
            <a:avLst/>
            <a:gdLst/>
            <a:ahLst/>
            <a:cxnLst/>
            <a:rect l="l" t="t" r="r" b="b"/>
            <a:pathLst>
              <a:path w="4009455" h="5617450">
                <a:moveTo>
                  <a:pt x="0" y="0"/>
                </a:moveTo>
                <a:lnTo>
                  <a:pt x="4009455" y="0"/>
                </a:lnTo>
                <a:lnTo>
                  <a:pt x="4009455" y="5617450"/>
                </a:lnTo>
                <a:lnTo>
                  <a:pt x="0" y="5617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00800" y="9221031"/>
            <a:ext cx="6712840" cy="586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400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Country identity and crop type dominate the model’s decisions — India, Canada, and Japan stand out, alongside crops like potatoes.</a:t>
            </a:r>
          </a:p>
        </p:txBody>
      </p:sp>
      <p:pic>
        <p:nvPicPr>
          <p:cNvPr id="33" name="Feature Importance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804" y="2095500"/>
            <a:ext cx="10090548" cy="720753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787580" y="495300"/>
            <a:ext cx="6712840" cy="168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What Drives the Prediction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3999" y="-1496467"/>
            <a:ext cx="11713948" cy="11959494"/>
          </a:xfrm>
          <a:custGeom>
            <a:avLst/>
            <a:gdLst/>
            <a:ahLst/>
            <a:cxnLst/>
            <a:rect l="l" t="t" r="r" b="b"/>
            <a:pathLst>
              <a:path w="9904333" h="8229600">
                <a:moveTo>
                  <a:pt x="0" y="0"/>
                </a:moveTo>
                <a:lnTo>
                  <a:pt x="9904332" y="0"/>
                </a:lnTo>
                <a:lnTo>
                  <a:pt x="99043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9399985">
            <a:off x="14865458" y="419564"/>
            <a:ext cx="6788503" cy="5078386"/>
          </a:xfrm>
          <a:custGeom>
            <a:avLst/>
            <a:gdLst/>
            <a:ahLst/>
            <a:cxnLst/>
            <a:rect l="l" t="t" r="r" b="b"/>
            <a:pathLst>
              <a:path w="7339998" h="5660973">
                <a:moveTo>
                  <a:pt x="0" y="0"/>
                </a:moveTo>
                <a:lnTo>
                  <a:pt x="7339998" y="0"/>
                </a:lnTo>
                <a:lnTo>
                  <a:pt x="7339998" y="5660973"/>
                </a:lnTo>
                <a:lnTo>
                  <a:pt x="0" y="5660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3000" y="2174346"/>
            <a:ext cx="7725934" cy="4617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3365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Gradient boosting (</a:t>
            </a:r>
            <a:r>
              <a:rPr lang="en-US" sz="3365" dirty="0" err="1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XGBoost</a:t>
            </a:r>
            <a:r>
              <a:rPr lang="en-US" sz="3365" dirty="0">
                <a:solidFill>
                  <a:srgbClr val="777C49"/>
                </a:solidFill>
                <a:latin typeface="FF Providence Sans"/>
                <a:ea typeface="FF Providence Sans"/>
                <a:cs typeface="FF Providence Sans"/>
                <a:sym typeface="FF Providence Sans"/>
              </a:rPr>
              <a:t>) again outperformed bagging (Random Forest) — and after properly merging 4 real sources and imputing genuine gaps (15–26% missing per column), both models still explain most of the variance in yield (R² up to 0.91). Country identity and crop type, not weather alone, remain the strongest predictors, reflecting real differences in farming technology across nations. Next step: add finer-grained soil and satellite data to explain the remaining variance.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02023" y="441660"/>
            <a:ext cx="5408696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61"/>
              </a:lnSpc>
              <a:spcBef>
                <a:spcPct val="0"/>
              </a:spcBef>
            </a:pPr>
            <a:r>
              <a:rPr lang="en-US" sz="5217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Key Takeaways</a:t>
            </a:r>
          </a:p>
        </p:txBody>
      </p:sp>
      <p:sp>
        <p:nvSpPr>
          <p:cNvPr id="6" name="Freeform 6"/>
          <p:cNvSpPr/>
          <p:nvPr/>
        </p:nvSpPr>
        <p:spPr>
          <a:xfrm>
            <a:off x="14249400" y="6134100"/>
            <a:ext cx="6788503" cy="5235633"/>
          </a:xfrm>
          <a:custGeom>
            <a:avLst/>
            <a:gdLst/>
            <a:ahLst/>
            <a:cxnLst/>
            <a:rect l="l" t="t" r="r" b="b"/>
            <a:pathLst>
              <a:path w="6788503" h="5235633">
                <a:moveTo>
                  <a:pt x="0" y="0"/>
                </a:moveTo>
                <a:lnTo>
                  <a:pt x="6788503" y="0"/>
                </a:lnTo>
                <a:lnTo>
                  <a:pt x="6788503" y="5235633"/>
                </a:lnTo>
                <a:lnTo>
                  <a:pt x="0" y="5235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40184" y="2247900"/>
            <a:ext cx="10651704" cy="8215127"/>
          </a:xfrm>
          <a:custGeom>
            <a:avLst/>
            <a:gdLst/>
            <a:ahLst/>
            <a:cxnLst/>
            <a:rect l="l" t="t" r="r" b="b"/>
            <a:pathLst>
              <a:path w="10651704" h="8215127">
                <a:moveTo>
                  <a:pt x="0" y="0"/>
                </a:moveTo>
                <a:lnTo>
                  <a:pt x="10651704" y="0"/>
                </a:lnTo>
                <a:lnTo>
                  <a:pt x="10651704" y="8215127"/>
                </a:lnTo>
                <a:lnTo>
                  <a:pt x="0" y="821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F4FFE7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1117" y="417536"/>
            <a:ext cx="17645766" cy="8630384"/>
          </a:xfrm>
          <a:custGeom>
            <a:avLst/>
            <a:gdLst/>
            <a:ahLst/>
            <a:cxnLst/>
            <a:rect l="l" t="t" r="r" b="b"/>
            <a:pathLst>
              <a:path w="17645766" h="8630384">
                <a:moveTo>
                  <a:pt x="0" y="0"/>
                </a:moveTo>
                <a:lnTo>
                  <a:pt x="17645766" y="0"/>
                </a:lnTo>
                <a:lnTo>
                  <a:pt x="17645766" y="8630384"/>
                </a:lnTo>
                <a:lnTo>
                  <a:pt x="0" y="8630384"/>
                </a:lnTo>
                <a:lnTo>
                  <a:pt x="0" y="0"/>
                </a:lnTo>
                <a:close/>
              </a:path>
            </a:pathLst>
          </a:custGeom>
          <a:solidFill>
            <a:srgbClr val="F4FFE7"/>
          </a:solidFill>
        </p:spPr>
      </p:sp>
      <p:sp>
        <p:nvSpPr>
          <p:cNvPr id="3" name="Freeform 3"/>
          <p:cNvSpPr/>
          <p:nvPr/>
        </p:nvSpPr>
        <p:spPr>
          <a:xfrm>
            <a:off x="9925026" y="6440095"/>
            <a:ext cx="12734391" cy="8229600"/>
          </a:xfrm>
          <a:custGeom>
            <a:avLst/>
            <a:gdLst/>
            <a:ahLst/>
            <a:cxnLst/>
            <a:rect l="l" t="t" r="r" b="b"/>
            <a:pathLst>
              <a:path w="12734391" h="8229600">
                <a:moveTo>
                  <a:pt x="0" y="0"/>
                </a:moveTo>
                <a:lnTo>
                  <a:pt x="12734391" y="0"/>
                </a:lnTo>
                <a:lnTo>
                  <a:pt x="127343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42795" y="696448"/>
            <a:ext cx="4670223" cy="13439491"/>
          </a:xfrm>
          <a:custGeom>
            <a:avLst/>
            <a:gdLst/>
            <a:ahLst/>
            <a:cxnLst/>
            <a:rect l="l" t="t" r="r" b="b"/>
            <a:pathLst>
              <a:path w="4670223" h="13439491">
                <a:moveTo>
                  <a:pt x="0" y="0"/>
                </a:moveTo>
                <a:lnTo>
                  <a:pt x="4670223" y="0"/>
                </a:lnTo>
                <a:lnTo>
                  <a:pt x="4670223" y="13439490"/>
                </a:lnTo>
                <a:lnTo>
                  <a:pt x="0" y="13439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778100" y="1703148"/>
            <a:ext cx="11254179" cy="9889609"/>
          </a:xfrm>
          <a:custGeom>
            <a:avLst/>
            <a:gdLst/>
            <a:ahLst/>
            <a:cxnLst/>
            <a:rect l="l" t="t" r="r" b="b"/>
            <a:pathLst>
              <a:path w="11254179" h="9889609">
                <a:moveTo>
                  <a:pt x="0" y="0"/>
                </a:moveTo>
                <a:lnTo>
                  <a:pt x="11254179" y="0"/>
                </a:lnTo>
                <a:lnTo>
                  <a:pt x="11254179" y="9889609"/>
                </a:lnTo>
                <a:lnTo>
                  <a:pt x="0" y="9889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86400" y="1871230"/>
            <a:ext cx="6946547" cy="440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15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77C49"/>
                </a:solidFill>
                <a:latin typeface="Aloja"/>
                <a:ea typeface="Aloja"/>
                <a:cs typeface="Aloja"/>
                <a:sym typeface="Aloja"/>
              </a:rPr>
              <a:t>THANK YOU FOR YOUR attention</a:t>
            </a:r>
            <a:r>
              <a:rPr lang="en-US" sz="7200" b="1" dirty="0">
                <a:solidFill>
                  <a:srgbClr val="777C49"/>
                </a:solidFill>
                <a:latin typeface="Aloja"/>
                <a:ea typeface="Aloja"/>
                <a:cs typeface="Aloja"/>
                <a:sym typeface="Wingdings" panose="05000000000000000000" pitchFamily="2" charset="2"/>
              </a:rPr>
              <a:t></a:t>
            </a:r>
            <a:endParaRPr lang="en-US" sz="7200" b="1" dirty="0">
              <a:solidFill>
                <a:srgbClr val="777C49"/>
              </a:solidFill>
              <a:latin typeface="Aloja"/>
              <a:ea typeface="Aloja"/>
              <a:cs typeface="Aloja"/>
              <a:sym typeface="Aloja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670726" y="6297218"/>
            <a:ext cx="7252335" cy="8229600"/>
          </a:xfrm>
          <a:custGeom>
            <a:avLst/>
            <a:gdLst/>
            <a:ahLst/>
            <a:cxnLst/>
            <a:rect l="l" t="t" r="r" b="b"/>
            <a:pathLst>
              <a:path w="7252335" h="8229600">
                <a:moveTo>
                  <a:pt x="0" y="0"/>
                </a:moveTo>
                <a:lnTo>
                  <a:pt x="7252335" y="0"/>
                </a:lnTo>
                <a:lnTo>
                  <a:pt x="72523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63079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569</Words>
  <Application>Microsoft Office PowerPoint</Application>
  <PresentationFormat>Custom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Aloja</vt:lpstr>
      <vt:lpstr>Arial</vt:lpstr>
      <vt:lpstr>Calibri</vt:lpstr>
      <vt:lpstr>FF Providence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Illustrated Nature Presentation</dc:title>
  <dc:creator>Mariam Ali</dc:creator>
  <cp:lastModifiedBy>Mariam Ali</cp:lastModifiedBy>
  <cp:revision>6</cp:revision>
  <dcterms:created xsi:type="dcterms:W3CDTF">2006-08-16T00:00:00Z</dcterms:created>
  <dcterms:modified xsi:type="dcterms:W3CDTF">2026-09-28T21:57:05Z</dcterms:modified>
  <dc:identifier>DAHOdBij7oM</dc:identifier>
</cp:coreProperties>
</file>